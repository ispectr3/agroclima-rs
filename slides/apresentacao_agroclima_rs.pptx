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82B49"/>
                </a:solidFill>
              </a:defRPr>
            </a:pPr>
            <a:r>
              <a:t>AgroClima RS: Pipeline Serverless para Dados Meteorológicos e Agricultura</a:t>
            </a:r>
          </a:p>
          <a:p>
            <a:pPr>
              <a:spcBef>
                <a:spcPts val="800"/>
              </a:spcBef>
              <a:defRPr sz="1800">
                <a:solidFill>
                  <a:srgbClr val="107C72"/>
                </a:solidFill>
              </a:defRPr>
            </a:pPr>
            <a:r>
              <a:t>Engenharia de Dados aplicada ao monitoramento climático e previsão de chuva no Sul do RS</a:t>
            </a:r>
            <a:br/>
            <a:r>
              <a:t>Recorte Territorial: Região Intermediária de Pelotas (IBGE 4302)</a:t>
            </a:r>
            <a:br/>
            <a:r>
              <a:t>AI Talent Academy — White Cube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Slide 2 — O Problema</a:t>
            </a:r>
          </a:p>
          <a:p>
            <a:pPr>
              <a:spcBef>
                <a:spcPts val="800"/>
              </a:spcBef>
              <a:defRPr sz="1600">
                <a:solidFill>
                  <a:srgbClr val="107C72"/>
                </a:solidFill>
              </a:defRPr>
            </a:pPr>
            <a:r>
              <a:t>Fragmentação e assimetria de dados ambientais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Dados climáticos e agropecuários estão dispersos em portais distintos e formatos legados (CSVs sem padronização, sentinelas -9999, cabeçalhos de metadados).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Falta de integração regional: a maioria dos estudos tenta modelar o Brasil inteiro, perdendo as nuances microclimáticas locais.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Necessidade de automação: transformar séries temporais horárias brutas em informações acionáveis para tomadores de decisão e produtores.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Slide 3 — Objetivo do Projeto</a:t>
            </a:r>
          </a:p>
          <a:p>
            <a:pPr>
              <a:spcBef>
                <a:spcPts val="800"/>
              </a:spcBef>
              <a:defRPr sz="1600">
                <a:solidFill>
                  <a:srgbClr val="107C72"/>
                </a:solidFill>
              </a:defRPr>
            </a:pPr>
            <a:r>
              <a:t>Solução de Engenharia de Dados de ponta a ponta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Objetivo Geral: Construir um pipeline de dados ponta a ponta capaz de coletar, transformar e disponibilizar medições meteorológicas do Sul do Rio Grande do Sul.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Objetivo Preditivo (Fase 1): Prever a ocorrência de chuva no dia seguinte (D+1) a nível de estação meteorológica.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Objetivo Agronômico (Fase 2): Estruturar a modelagem e catálogo de dados para associação futura com safras oficiais do Arroz Irrigado (IBGE PAM / CONAB).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Slide 4 — Recorte Territorial Metodológico</a:t>
            </a:r>
          </a:p>
          <a:p>
            <a:pPr>
              <a:spcBef>
                <a:spcPts val="800"/>
              </a:spcBef>
              <a:defRPr sz="1600">
                <a:solidFill>
                  <a:srgbClr val="107C72"/>
                </a:solidFill>
              </a:defRPr>
            </a:pPr>
            <a:r>
              <a:t>Região Geográfica Intermediária de Pelotas (Código IBGE 4302)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Evita generalizações subjetivas ao adotar uma região estatística oficial e ecologicamente homogênea (Pampa gaúcho).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Compreende as Regiões Geográficas Imediatas de Pelotas (430005) e Bagé (430006).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10 Estações Automáticas INMET monitoradas: Pelotas/Capão do Leão (A887), Bagé (A827), Rio Grande (A802), Santa Vitória do Palmar (A899), Camaquã (A838), Jaguarão (A836), Canguçu (A811), Pinheiro Machado (B823), Aceguá (B828) e Herval (B826).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Slide 5 — Fontes de Dados Públicas</a:t>
            </a:r>
          </a:p>
          <a:p>
            <a:pPr>
              <a:spcBef>
                <a:spcPts val="800"/>
              </a:spcBef>
              <a:defRPr sz="1600">
                <a:solidFill>
                  <a:srgbClr val="107C72"/>
                </a:solidFill>
              </a:defRPr>
            </a:pPr>
            <a:r>
              <a:t>Rastreabilidade e dados oficiais auditáveis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INMET (BDMEP): Dados horários reais de estações automáticas (temperatura, umidade, pressão barométrica, radiação e chuva).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Open-Meteo API / NASA POWER: APIs REST mapeadas no pipeline para atualização contínua em nuvem.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IBGE SIDRA (PAM): Base oficial da Produção Agrícola Municipal (área, produção e produtividade anual).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CONAB: Acompanhamento de safra e séries históricas da orizicultura gaúcha.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Slide 6 — Arquitetura do Pipeline Medallion Serverless</a:t>
            </a:r>
          </a:p>
          <a:p>
            <a:pPr>
              <a:spcBef>
                <a:spcPts val="800"/>
              </a:spcBef>
              <a:defRPr sz="1600">
                <a:solidFill>
                  <a:srgbClr val="107C72"/>
                </a:solidFill>
              </a:defRPr>
            </a:pPr>
            <a:r>
              <a:t>Fluxo contínuo: Bronze -&gt; Prata -&gt; Ouro -&gt; Consumo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Camada Bronze (Raw): Ingestão bruta de CSVs horários no S3 (s3://agroclima-lake/bronze/inmet/).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Camada Prata (Standardized): Limpeza, tratamento de -9999 e agregação horária -&gt; diária em Parquet (fact_weather_daily).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Camada Ouro (Analytics/ML): Lags temporais, janelas móveis de chuva e alvo D+1 (features_rain_d1).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Consumo Analítico: Catálogo de metadados no AWS Glue + Consultas SQL no Athena + Inferência de ML.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Slide 7 — Modelo de Dados e Chaves de Integração</a:t>
            </a:r>
          </a:p>
          <a:p>
            <a:pPr>
              <a:spcBef>
                <a:spcPts val="800"/>
              </a:spcBef>
              <a:defRPr sz="1600">
                <a:solidFill>
                  <a:srgbClr val="107C72"/>
                </a:solidFill>
              </a:defRPr>
            </a:pPr>
            <a:r>
              <a:t>Relações dimensionais e estruturais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FACT_WEATHER_DAILY (Prata): Chave primária (station_id + date). Métricas: precip_mm, temp_min, temp_max, temp_avg, humidity_avg, pressure_avg, wind_speed, solar_radiation.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FEATURES_RAIN_D1 (Ouro): Chave primária (station_id + date). Variável alvo (rain_tomorrow) + 21 features preditivas.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FACT_AGRICULTURE (Agro): Chave primária (codigo_ibge + year + crop). Métricas de área colhida e produtividade (kg/ha).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Slide 8 — Diagnóstico de Qualidade dos Dados Reais</a:t>
            </a:r>
          </a:p>
          <a:p>
            <a:pPr>
              <a:spcBef>
                <a:spcPts val="800"/>
              </a:spcBef>
              <a:defRPr sz="1600">
                <a:solidFill>
                  <a:srgbClr val="107C72"/>
                </a:solidFill>
              </a:defRPr>
            </a:pPr>
            <a:r>
              <a:t>Auditoria de 2.430 registros diários (Jan a Ago/2026)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Zero duplicatas na chave natural (station_id + date).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Excelente cobertura: Bagé (99.8%), Santa Vitória do Palmar (99.7%), Jaguarão (99.5%) e Pelotas (95.0%).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Decisão de Engenharia: Descarte de estações com falhas crônicas de sensores (&gt;30% de nulos, ex: Dom Pedrito A881).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Tratamento de nulos: Imputação mediana calculada exclusivamente no conjunto de treino para evitar data leakage.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Slide 9 — Engenharia de Features Meteorológicas</a:t>
            </a:r>
          </a:p>
          <a:p>
            <a:pPr>
              <a:spcBef>
                <a:spcPts val="800"/>
              </a:spcBef>
              <a:defRPr sz="1600">
                <a:solidFill>
                  <a:srgbClr val="107C72"/>
                </a:solidFill>
              </a:defRPr>
            </a:pPr>
            <a:r>
              <a:t>Extração de sinal preditivo físico do clima pampeano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Variação Barométrica 24h (pressure_change_24h): Identifica a aproximação de frentes frias vindas do sul do continente.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Memória de Precipitação: Lags (D-1, D-2) e acumulados móveis de 3 e 7 dias (precip_sum_3d, precip_sum_7d).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Histórico de Estiagem: Sequência contínua de dias sem chuva (dry_days).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Sazonalidade Cíclica: Transformações trigonométricas (seno/cosseno do dia do ano) para aprendizado sazonal contínuo.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Slide 10 — Protocolo de Validação e Modelagem</a:t>
            </a:r>
          </a:p>
          <a:p>
            <a:pPr>
              <a:spcBef>
                <a:spcPts val="800"/>
              </a:spcBef>
              <a:defRPr sz="1600">
                <a:solidFill>
                  <a:srgbClr val="107C72"/>
                </a:solidFill>
              </a:defRPr>
            </a:pPr>
            <a:r>
              <a:t>Divisão temporal estrita (Sem vazamento de futuro)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Treino Out-of-Time: 01/01/2026 a 30/06/2026 (1.685 observações — Verão e Outono).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Teste Cego (Holdout): 01/07/2026 a 31/08/2026 (590 observações — Inverno gaúcho).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Modelos Treinados: Regressão Logística (baseline linear), Random Forest (ensemble) e XGBoost (gradient boosting).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Slide 11 — Resultados Reais no Holdout 2026</a:t>
            </a:r>
          </a:p>
          <a:p>
            <a:pPr>
              <a:spcBef>
                <a:spcPts val="800"/>
              </a:spcBef>
              <a:defRPr sz="1600">
                <a:solidFill>
                  <a:srgbClr val="107C72"/>
                </a:solidFill>
              </a:defRPr>
            </a:pPr>
            <a:r>
              <a:t>Performance comprovada em dados reais do INMET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Random Forest: ROC-AUC = 0.8035 | F1-Score = 0.6568 (Melhor separabilidade probabilística).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Logistic Regression: ROC-AUC = 0.7909 | F1-Score = 0.6911 (Modelo muito robusto e estável).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XGBoost: ROC-AUC = 0.7850 | F1-Score = 0.6720 (Excelente calibração de probabilidades).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Feature mais importante no modelo: Queda de pressão barométrica em 24h (pressure_change_24h).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Slide 12 — Conclusão, Limitações e Próximos Passos</a:t>
            </a:r>
          </a:p>
          <a:p>
            <a:pPr>
              <a:spcBef>
                <a:spcPts val="800"/>
              </a:spcBef>
              <a:defRPr sz="1600">
                <a:solidFill>
                  <a:srgbClr val="107C72"/>
                </a:solidFill>
              </a:defRPr>
            </a:pPr>
            <a:r>
              <a:t>Entrega sólida de MVP e evolução de produto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Conclusão: Pipeline de Engenharia de Dados funcional, transformando dados brutos em inteligência preditiva com ROC-AUC &gt; 0.80.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Rigor com a Agricultura: Dados sintéticos foram descartados; a camada agrícola aguarda dados oficiais da safra 2026 no IBGE SIDRA.</a:t>
            </a:r>
          </a:p>
          <a:p>
            <a:pPr>
              <a:spcBef>
                <a:spcPts val="1400"/>
              </a:spcBef>
              <a:defRPr sz="1600">
                <a:solidFill>
                  <a:srgbClr val="282C34"/>
                </a:solidFill>
              </a:defRPr>
            </a:pPr>
            <a:r>
              <a:t>• Próximos Passos: Ingestão de séries históricas de 10 anos (2016-2026), deploy do Terraform na AWS e criação de API FastAPI para produtores locais.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